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2" r:id="rId10"/>
    <p:sldId id="263" r:id="rId11"/>
    <p:sldId id="264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069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starter based on the uploaded project materials and branding cues in the Fivos project brief.
[Sources]
- Project brief and branding cues from uploaded PDF: /mnt/data/Fivos Multi-Agent AI System for Automated Medical Device Data Harvesting and Regulatory Validation.pdf
- Project scope context from uploaded Phase 1 and Phase 2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74642"/>
          </a:solidFill>
          <a:ln w="12700">
            <a:solidFill>
              <a:srgbClr val="F7F5F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4465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VIBE CODERS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75520" y="64465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TEMPLATE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9600000">
            <a:off x="676656" y="926984"/>
            <a:ext cx="566928" cy="256032"/>
          </a:xfrm>
          <a:prstGeom prst="chevron">
            <a:avLst/>
          </a:prstGeom>
          <a:solidFill>
            <a:srgbClr val="E97886">
              <a:alpha val="92000"/>
            </a:srgbClr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 rot="9600000">
            <a:off x="841248" y="1170432"/>
            <a:ext cx="621792" cy="274320"/>
          </a:xfrm>
          <a:prstGeom prst="chevron">
            <a:avLst/>
          </a:prstGeom>
          <a:solidFill>
            <a:srgbClr val="6BC5C5">
              <a:alpha val="94000"/>
            </a:srgbClr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 rot="9600000">
            <a:off x="1078992" y="1490472"/>
            <a:ext cx="658368" cy="292608"/>
          </a:xfrm>
          <a:prstGeom prst="chevron">
            <a:avLst/>
          </a:prstGeom>
          <a:solidFill>
            <a:srgbClr val="17306F"/>
          </a:solidFill>
          <a:ln w="12700">
            <a:solidFill>
              <a:srgbClr val="17306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187452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Fivos — Automated Medical Device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Harvesting &amp; Regulatory Validation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22960" y="267004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 → Compare → Correct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31012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Vibe Coders: Jonathan · Wyatt · Ryan · Jason · Ralph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CIS 497 Senior Design — Spring 2026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Client: Doug Greene — Fivos Health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0" y="1188720"/>
            <a:ext cx="3840480" cy="4206240"/>
          </a:xfrm>
          <a:prstGeom prst="roundRect">
            <a:avLst>
              <a:gd name="adj" fmla="val 1429"/>
            </a:avLst>
          </a:prstGeom>
          <a:solidFill>
            <a:srgbClr val="FBFAF8"/>
          </a:solidFill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635240" y="1572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one of the following to the right panel: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909560" y="2331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Dashboard screenshot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Fivos company logo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 photo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 area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Agenda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~25 minutes including live demo and Q&amp;A — all members present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14400" y="182880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74642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188366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63040" y="185623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Description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09360" y="187452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Background, problem statement, client benefit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246888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25237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63040" y="249631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Stakeholders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09360" y="251460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is impacted and how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310896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14400" y="316382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313639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 Architecture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315468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pipeline overview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4400" y="37490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0" y="380390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377647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Requirements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09360" y="37947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Functional and non-functional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438912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14400" y="444398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63040" y="441655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Methodology &amp; Solution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09360" y="443484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we built it and tech stack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4400" y="502920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14400" y="508406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463040" y="505663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Testing &amp; Live Demo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9360" y="507492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407+ tests, OWASP ZAP, live demonstration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Description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regulatory gap Fivos Health needed bridged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8680" y="1783080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18288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68680" y="2148840"/>
            <a:ext cx="4754880" cy="3474720"/>
          </a:xfrm>
          <a:prstGeom prst="roundRect">
            <a:avLst>
              <a:gd name="adj" fmla="val 210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69848" y="2313432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8136" y="2697480"/>
            <a:ext cx="4315968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FDA GUDID is the source of truth for 2M+ medical device records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Manufacturer websites frequently diverge from GUDID entries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Discrepancies range from mismatched model numbers to wrong dimensions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Inaccurate records cause patient safety risks and procurement errors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Manual cross-referencing of thousands of SKUs is impractical at scale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89320" y="1783080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89320" y="18288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8932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90488" y="2313432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Our Approach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08776" y="2697480"/>
            <a:ext cx="4864608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Two autonomous agents: Harvester (scrape) + Validator (compare)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AI-powered extraction using a 6-model LLM fallback chain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Automated GUDID validation with per-field match/mismatch scoring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FastAPI web dashboard for Human-in-the-Loop reviewer correction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Closed loop: reviewer choices improve data quality over 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Stakeholders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is impacted by the system and how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" y="1828800"/>
            <a:ext cx="3383280" cy="3840480"/>
          </a:xfrm>
          <a:prstGeom prst="roundRect">
            <a:avLst>
              <a:gd name="adj" fmla="val 2162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24128" y="1993392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 &amp; Reviewers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42416" y="2377440"/>
            <a:ext cx="2944368" cy="3127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Doug Greene / Fivos Health — client sponsor; receives production tool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Clinical Data Reviewers — use the dashboard to validate and correct records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FDA — maintains GUDID as the regulatory standard (indirect)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07408" y="1828800"/>
            <a:ext cx="3383280" cy="3840480"/>
          </a:xfrm>
          <a:prstGeom prst="roundRect">
            <a:avLst>
              <a:gd name="adj" fmla="val 2162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08576" y="1993392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Industry &amp; Downstream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26864" y="2377440"/>
            <a:ext cx="2944368" cy="3127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Medical Device Manufacturers — their catalog data is harvested and validated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Patients — downstream beneficiaries; accurate records reduce medical errors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Medical Registries — consume Fivos-validated device data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91856" y="1828800"/>
            <a:ext cx="3383280" cy="3840480"/>
          </a:xfrm>
          <a:prstGeom prst="roundRect">
            <a:avLst>
              <a:gd name="adj" fmla="val 2162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93024" y="1993392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Development Team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11312" y="2377440"/>
            <a:ext cx="2944368" cy="3127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Vibe Coders — CIS 497 Senior Design team delivering the system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Jonathan, Wyatt, Ryan, Jason, Ralph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Gain hands-on experience with AI pipelines, security, and client delivery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pipeline across three phases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14400" y="2148840"/>
            <a:ext cx="1572768" cy="1097280"/>
          </a:xfrm>
          <a:prstGeom prst="roundRect">
            <a:avLst>
              <a:gd name="adj" fmla="val 4167"/>
            </a:avLst>
          </a:prstGeom>
          <a:solidFill>
            <a:srgbClr val="FBFAF8"/>
          </a:solidFill>
          <a:ln w="12700">
            <a:solidFill>
              <a:srgbClr val="E978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23591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26974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Scrape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Playwright + asyncio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(max 3 concurrent)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886200" y="2148840"/>
            <a:ext cx="1572768" cy="1097280"/>
          </a:xfrm>
          <a:prstGeom prst="roundRect">
            <a:avLst>
              <a:gd name="adj" fmla="val 4167"/>
            </a:avLst>
          </a:prstGeom>
          <a:solidFill>
            <a:srgbClr val="FBFAF8"/>
          </a:solidFill>
          <a:ln w="12700">
            <a:solidFill>
              <a:srgbClr val="6BC5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86200" y="23591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23360" y="26974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6-model LLM chain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parallel workers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0" y="2148840"/>
            <a:ext cx="1572768" cy="1097280"/>
          </a:xfrm>
          <a:prstGeom prst="roundRect">
            <a:avLst>
              <a:gd name="adj" fmla="val 4167"/>
            </a:avLst>
          </a:prstGeom>
          <a:solidFill>
            <a:srgbClr val="FBFAF8"/>
          </a:solidFill>
          <a:ln w="12700">
            <a:solidFill>
              <a:srgbClr val="1730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0" y="23591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95160" y="26974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FDA GUDID API v3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per-field scoring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829800" y="2148840"/>
            <a:ext cx="1572768" cy="1097280"/>
          </a:xfrm>
          <a:prstGeom prst="roundRect">
            <a:avLst>
              <a:gd name="adj" fmla="val 4167"/>
            </a:avLst>
          </a:prstGeom>
          <a:solidFill>
            <a:srgbClr val="FBFAF8"/>
          </a:solidFill>
          <a:ln w="12700">
            <a:solidFill>
              <a:srgbClr val="C746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829800" y="23591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966960" y="26974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Human-in-the-Loop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 / override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944368" y="2514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916168" y="2514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8887968" y="2514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914400" y="3886200"/>
            <a:ext cx="4754880" cy="1325880"/>
          </a:xfrm>
          <a:prstGeom prst="roundRect">
            <a:avLst>
              <a:gd name="adj" fmla="val 5517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15568" y="4050792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Stores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33856" y="4434840"/>
            <a:ext cx="4315968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→ web-scraper/out_html/  |  JSON → harvester/output/  |  MongoDB: devices + validationResults + users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89320" y="388620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190488" y="4050792"/>
            <a:ext cx="4855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LLM Fallback Chain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208776" y="4434840"/>
            <a:ext cx="4818888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Groq llama-3.3-70b → Groq llama-3.1-8b → NVIDIA llama-3.3-70b → NVIDIA mistral-large → NVIDIA gemma-2-27b → Ollama qwen2.5:3b (local)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Functional Requirements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capabilities the system must deliver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059936" y="1783080"/>
            <a:ext cx="0" cy="361188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119872" y="1783080"/>
            <a:ext cx="0" cy="361188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Collection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2468880"/>
            <a:ext cx="27432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Scrape manufacturer sites via Playwright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Handle dynamic JS content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Batch URL processing from .txt upload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Store raw HTML to filesystem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4343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Harvester Agent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4572000"/>
            <a:ext cx="2743200" cy="1005840"/>
          </a:xfrm>
          <a:prstGeom prst="roundRect">
            <a:avLst>
              <a:gd name="adj" fmla="val 454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Extraction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0" y="2468880"/>
            <a:ext cx="27432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Two-pass LLM extraction (page-level + product rows)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6-model fallback chain (Groq → NVIDIA → Ollama)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Normalize units, text, dates, booleans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Parallel processing via ThreadPoolExecutor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4343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Pipeline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0" y="4572000"/>
            <a:ext cx="2743200" cy="1005840"/>
          </a:xfrm>
          <a:prstGeom prst="roundRect">
            <a:avLst>
              <a:gd name="adj" fmla="val 454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41080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Validation &amp; Review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41080" y="2468880"/>
            <a:ext cx="27432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Query FDA GUDID API per device identifier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Per-field match / mismatch / partial scoring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Discrepancy queue in review dashboard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Human reviewer accept or override per field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Role-based access (Admin + Reviewer)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41080" y="4343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 Agent + HITL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641080" y="4572000"/>
            <a:ext cx="2743200" cy="1005840"/>
          </a:xfrm>
          <a:prstGeom prst="roundRect">
            <a:avLst>
              <a:gd name="adj" fmla="val 454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Non-Functional Requirements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attributes and operational constraints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059936" y="1783080"/>
            <a:ext cx="0" cy="361188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119872" y="1783080"/>
            <a:ext cx="0" cy="361188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Security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2468880"/>
            <a:ext cx="27432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CSRF tokens on all 13 POST forms (secrets.compare_digest)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Security headers: CSP, X-Frame-Options, Cache-Control, COEP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bcrypt (work factor 12) + HIBP k-anonymity breach check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MongoDB bound to 127.0.0.1 with authentication required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4343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ZAP: 58 PASS, 0 FAIL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4572000"/>
            <a:ext cx="2743200" cy="1005840"/>
          </a:xfrm>
          <a:prstGeom prst="roundRect">
            <a:avLst>
              <a:gd name="adj" fmla="val 454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Performance &amp; Portability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0" y="2468880"/>
            <a:ext cx="27432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4-worker parallel extraction with per-provider semaphores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Cloud-first LLM (Groq/NVIDIA) with local Ollama fallback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Full stack in Docker Compose — no host dependencies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GPU passthrough opt-in via override compose file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4343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Docker + cloud-first AI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0" y="4572000"/>
            <a:ext cx="2743200" cy="1005840"/>
          </a:xfrm>
          <a:prstGeom prst="roundRect">
            <a:avLst>
              <a:gd name="adj" fmla="val 454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41080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Observability &amp; Usability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41080" y="2468880"/>
            <a:ext cx="27432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Timestamped log files with thread-name prefixes (extract_0..3)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Real-time job status polling via /api/jobs endpoint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Role-based dashboard views (Admin vs. Reviewer)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Force password change on first login (blocks all routes)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41080" y="4343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logs + RBAC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641080" y="4572000"/>
            <a:ext cx="2743200" cy="1005840"/>
          </a:xfrm>
          <a:prstGeom prst="roundRect">
            <a:avLst>
              <a:gd name="adj" fmla="val 454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Methodology &amp; Solution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we built it and what we delivered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8680" y="1783080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18288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68680" y="2148840"/>
            <a:ext cx="4754880" cy="3474720"/>
          </a:xfrm>
          <a:prstGeom prst="roundRect">
            <a:avLst>
              <a:gd name="adj" fmla="val 210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69848" y="2313432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Development Approach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8136" y="2697480"/>
            <a:ext cx="4315968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Agile-influenced iterative delivery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Feature spec + implementation plan before any coding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Weekly standups via Google Meet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Branch-per-developer workflow on GitHub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OWASP ZAP security scan at each major feature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89320" y="1783080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89320" y="18288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8932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90488" y="2313432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 Stack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08776" y="2697480"/>
            <a:ext cx="4864608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FastAPI + Jinja2 web framework (Python 3.13)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Playwright browser automation + BeautifulSoup4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MongoDB 7 document store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Groq API, NVIDIA NIM, Ollama LLM providers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Docker Compose full-stack containerization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bcrypt · OWASP ZAP · GitHub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pytest suite + OWASP ZAP security audit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8680" y="1828800"/>
            <a:ext cx="3154680" cy="1417320"/>
          </a:xfrm>
          <a:prstGeom prst="roundRect">
            <a:avLst>
              <a:gd name="adj" fmla="val 3226"/>
            </a:avLst>
          </a:prstGeom>
          <a:solidFill>
            <a:srgbClr val="FBFAF8"/>
          </a:solidFill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20574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239572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407+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51560" y="2816352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 Passing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828800"/>
            <a:ext cx="3154680" cy="1417320"/>
          </a:xfrm>
          <a:prstGeom prst="roundRect">
            <a:avLst>
              <a:gd name="adj" fmla="val 3226"/>
            </a:avLst>
          </a:prstGeom>
          <a:solidFill>
            <a:srgbClr val="FBFAF8"/>
          </a:solidFill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20574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39572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846320" y="2816352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 (0 FAIL)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458200" y="1828800"/>
            <a:ext cx="3154680" cy="1417320"/>
          </a:xfrm>
          <a:prstGeom prst="roundRect">
            <a:avLst>
              <a:gd name="adj" fmla="val 3226"/>
            </a:avLst>
          </a:prstGeom>
          <a:solidFill>
            <a:srgbClr val="FBFAF8"/>
          </a:solidFill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641080" y="20574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41080" y="239572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8641080" y="2816352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Vulns Remediated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8680" y="3794760"/>
            <a:ext cx="6400800" cy="1783080"/>
          </a:xfrm>
          <a:prstGeom prst="roundRect">
            <a:avLst>
              <a:gd name="adj" fmla="val 4103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69848" y="3959352"/>
            <a:ext cx="5998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OWASP ZAP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88136" y="4343400"/>
            <a:ext cx="5961888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VULN-001  HIGH     Unauthenticated MongoDB exposed on 0.0.0.0:27017  —  Remediated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VULN-002  MEDIUM  Missing HTTP security headers (CSP, X-Frame, etc.)  —  Remediated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VULN-003  MEDIUM  No CSRF tokens on 13 POST forms                     —  Remediated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VULN-004  LOW      Cacheable HTML responses (no Cache-Control)         —  Remediated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VULN-005  INFO     Demo credentials visible in login page source       —  Remediated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VULN-006  LOW      Cross-Origin-Embedder-Policy header missing         —  Remediated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98080" y="3794760"/>
            <a:ext cx="3794760" cy="1783080"/>
          </a:xfrm>
          <a:prstGeom prst="roundRect">
            <a:avLst>
              <a:gd name="adj" fmla="val 4103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699248" y="3959352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17536" y="4343400"/>
            <a:ext cx="3355848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 6 vulnerabilities fully remediated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ZAP baseline: 58 PASS, 0 FAIL after remediation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Integration tests hit real MongoDB (no mocks)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Security headers, CSRF, auth, and caching hardened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 the Team — Vibe Coders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CIS 497 Senior Design, Spring 2026  |  Client: Doug Greene, Fivos Health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60120" y="1920240"/>
            <a:ext cx="960120" cy="960120"/>
          </a:xfrm>
          <a:prstGeom prst="ellipse">
            <a:avLst/>
          </a:prstGeom>
          <a:solidFill>
            <a:srgbClr val="FBFAF8"/>
          </a:solidFill>
          <a:ln w="12700">
            <a:solidFill>
              <a:srgbClr val="6BC5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9992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Jonathan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Orchestration &amp; Runner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86200" y="1920240"/>
            <a:ext cx="960120" cy="960120"/>
          </a:xfrm>
          <a:prstGeom prst="ellipse">
            <a:avLst/>
          </a:prstGeom>
          <a:solidFill>
            <a:srgbClr val="FBFAF8"/>
          </a:solidFill>
          <a:ln w="12700">
            <a:solidFill>
              <a:srgbClr val="6BC5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0" y="29992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Wyatt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32461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Scraping (Playwright)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12280" y="1920240"/>
            <a:ext cx="960120" cy="960120"/>
          </a:xfrm>
          <a:prstGeom prst="ellipse">
            <a:avLst/>
          </a:prstGeom>
          <a:solidFill>
            <a:srgbClr val="FBFAF8"/>
          </a:solidFill>
          <a:ln w="12700">
            <a:solidFill>
              <a:srgbClr val="6BC5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583680" y="29992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Ryan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92240" y="32461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 Adapters (YAML)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738360" y="1920240"/>
            <a:ext cx="960120" cy="960120"/>
          </a:xfrm>
          <a:prstGeom prst="ellipse">
            <a:avLst/>
          </a:prstGeom>
          <a:solidFill>
            <a:srgbClr val="FBFAF8"/>
          </a:solidFill>
          <a:ln w="12700">
            <a:solidFill>
              <a:srgbClr val="C746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509760" y="29992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Jason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418320" y="32461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+ Security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423160" y="3977640"/>
            <a:ext cx="960120" cy="960120"/>
          </a:xfrm>
          <a:prstGeom prst="ellipse">
            <a:avLst/>
          </a:prstGeom>
          <a:solidFill>
            <a:srgbClr val="FBFAF8"/>
          </a:solidFill>
          <a:ln w="12700">
            <a:solidFill>
              <a:srgbClr val="C746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194560" y="50566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Ralph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103120" y="53035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Storage (MongoDB)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178040" y="3977640"/>
            <a:ext cx="960120" cy="960120"/>
          </a:xfrm>
          <a:prstGeom prst="ellipse">
            <a:avLst/>
          </a:prstGeom>
          <a:solidFill>
            <a:srgbClr val="FBFAF8"/>
          </a:solidFill>
          <a:ln w="12700">
            <a:solidFill>
              <a:srgbClr val="C746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949440" y="50566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Doug Greene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53035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— Fivos Health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011680" y="589788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circles with headshots or initials for a polished look</a:t>
            </a:r>
            <a:endParaRPr lang="en-US" sz="10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Demo + Q&amp;A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21762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 — Vibe Coders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GitHub: Fivos_Senior_Project  ·  Client: doug.greene@fivoshealth.com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03720" y="1188720"/>
            <a:ext cx="3657600" cy="4297680"/>
          </a:xfrm>
          <a:prstGeom prst="roundRect">
            <a:avLst>
              <a:gd name="adj" fmla="val 1500"/>
            </a:avLst>
          </a:prstGeom>
          <a:solidFill>
            <a:srgbClr val="FBFAF8"/>
          </a:solidFill>
          <a:ln w="12700">
            <a:solidFill>
              <a:srgbClr val="D8D0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6092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Script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63524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Trigger a single-URL harvest from /harvester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Show the extracted device record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Run GUDID validation on the batch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Open a mismatch in the /review dashboard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Accept or override a field value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(Admin) Create a reviewer account at /admin/users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789</TotalTime>
  <Words>1198</Words>
  <Application>Microsoft Office PowerPoint</Application>
  <PresentationFormat>Widescreen</PresentationFormat>
  <Paragraphs>213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AI Project Presentation Template</dc:title>
  <dc:subject>Project presentation template</dc:subject>
  <dc:creator>OpenAI</dc:creator>
  <cp:lastModifiedBy>Jason Sonith</cp:lastModifiedBy>
  <cp:revision>2</cp:revision>
  <dcterms:created xsi:type="dcterms:W3CDTF">2026-04-20T18:02:39Z</dcterms:created>
  <dcterms:modified xsi:type="dcterms:W3CDTF">2026-04-21T13:11:52Z</dcterms:modified>
</cp:coreProperties>
</file>